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SC-Net: Spatio-Temporal Contrast Network</a:t>
            </a:r>
            <a:br/>
            <a:r>
              <a:t>for CAD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MICCAI 2024 Paper Implementation  —  Progress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3657600" cy="2743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B7B8D"/>
                </a:solidFill>
                <a:latin typeface="Calibri"/>
              </a:defRPr>
            </a:pPr>
            <a:r>
              <a:t>Dual-branch DETR-style architecture for coronary artery disease diagnosis from CCTA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3017520" cy="2011680"/>
          </a:xfrm>
          <a:prstGeom prst="rect">
            <a:avLst/>
          </a:prstGeom>
          <a:solidFill>
            <a:srgbClr val="244E78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7CBD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Clinically-Credible</a:t>
            </a:r>
            <a:br/>
            <a:r>
              <a:t>Data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Lesion recombination on CPR</a:t>
            </a:r>
            <a:br/>
            <a:r>
              <a:t>volumes for data-scarce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3017520" cy="2011680"/>
          </a:xfrm>
          <a:prstGeom prst="rect">
            <a:avLst/>
          </a:prstGeom>
          <a:solidFill>
            <a:srgbClr val="244E78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7CB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572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Spatio-Temporal</a:t>
            </a:r>
            <a:br/>
            <a:r>
              <a:t>Dual-Task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Object detection (spatial) +</a:t>
            </a:r>
            <a:br/>
            <a:r>
              <a:t>sampling-point classification (temporal)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114800"/>
            <a:ext cx="3017520" cy="2011680"/>
          </a:xfrm>
          <a:prstGeom prst="rect">
            <a:avLst/>
          </a:prstGeom>
          <a:solidFill>
            <a:srgbClr val="244E78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7CB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572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Dual-Task Prediction-</a:t>
            </a:r>
            <a:br/>
            <a:r>
              <a:t>Contrast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Cross-supervision via detached</a:t>
            </a:r>
            <a:br/>
            <a:r>
              <a:t>pseudo-labels between branches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Progress &amp; Bug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2743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7CBD"/>
                </a:solidFill>
                <a:latin typeface="Calibri"/>
              </a:defRPr>
            </a:pPr>
            <a:r>
              <a:t>13+ Architecture Bugs Identified &amp;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nn.ModuleList for extraction blocks (weights were invisible to optimizer)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Learnable parameters: feature weights, view fusion as nn.Parameter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Fixed query embeddings via nn.Embedding (was random every forward pass)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Conv3d spatial flattening projection (defined but never called)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Gradient detachment in contrastive loss (circular gradient flow)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Box format consistency: center-width throughout pipeline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Device handling: targets moved to output device in loss functions</a:t>
            </a:r>
          </a:p>
          <a:p>
            <a:pPr>
              <a:spcAft>
                <a:spcPts val="4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Deep copy targets before each loss term (in-place mutation bug)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2194560"/>
          </a:xfrm>
          <a:prstGeom prst="rect">
            <a:avLst/>
          </a:prstGeom>
          <a:solidFill>
            <a:srgbClr val="244E7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Key Discovery: Paper Code ≠ Paper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Paper equations: λ_L1 = 5, λ_IoU = 2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Paper code actually uses: 1:1:1 equal weighting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Our "fixes" matching equations broke convergence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Resolution: Reverted to paper code weights (1:1:1)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solidFill>
            <a:srgbClr val="244E78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7CBD"/>
                </a:solidFill>
                <a:latin typeface="Calibri"/>
              </a:defRPr>
            </a:pPr>
            <a:r>
              <a:t>Two-Stage Training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605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Stage 1 — Pre-train on augmented data (3-class plaque)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Stage 2 — Fine-tune on clinical data (6-class: stenosis × plaque)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Head reinitialization (3→6 classes) is by design in paper code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AdamW optimizer, CosineAnnealingLR, gradient clipping = 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7CBD"/>
                </a:solidFill>
                <a:latin typeface="Calibri"/>
              </a:defRPr>
            </a:pPr>
            <a:r>
              <a:t>Development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Phase 1: Initial codebase setup (Jan 2025)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Phase 2: 15+ critical bug fixes across 6 files (Jan 2025 – Feb 2026)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Phase 3: Training infrastructure, DDP, evaluation pipeline (Feb 2026)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Phase 4: Root cause analysis — paper code vs. paper equations (Feb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Current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2743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828800"/>
                <a:gridCol w="1645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Stenosis ACC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Stenosis F1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Stenosis AUC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Plaque ACC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v2-ft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0.316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0.573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0.630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Majority class only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v6-ft (ep. 9)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0.369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0.288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0.645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0.567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E4ED"/>
                          </a:solidFill>
                          <a:latin typeface="Calibri"/>
                        </a:defRPr>
                      </a:pPr>
                      <a:r>
                        <a:t>First class discrimination</a:t>
                      </a:r>
                    </a:p>
                  </a:txBody>
                  <a:tcPr anchor="ctr">
                    <a:solidFill>
                      <a:srgbClr val="1E42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target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0.928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0.944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data (218 patients)</a:t>
                      </a:r>
                    </a:p>
                  </a:txBody>
                  <a:tcPr anchor="ctr">
                    <a:solidFill>
                      <a:srgbClr val="244E7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383280"/>
            <a:ext cx="5029200" cy="2103120"/>
          </a:xfrm>
          <a:prstGeom prst="rect">
            <a:avLst/>
          </a:prstGeom>
          <a:solidFill>
            <a:srgbClr val="244E7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Key Finding: Calibration Problem, Not Learning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Significant-class AUC = 0.748 — strong internal discrimination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Model ranks Significant cases higher than Non-significant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But: zero argmax predictions for Significant class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Diagnosis: Decision boundary misaligned (calibration issue)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Fixable without retraining via post-hoc threshold 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383280"/>
            <a:ext cx="5029200" cy="2103120"/>
          </a:xfrm>
          <a:prstGeom prst="rect">
            <a:avLst/>
          </a:prstGeom>
          <a:solidFill>
            <a:srgbClr val="244E78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7CBD"/>
                </a:solidFill>
                <a:latin typeface="Calibri"/>
              </a:defRPr>
            </a:pPr>
            <a:r>
              <a:t>Progress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v6-ft is the first run achieving real class discrimination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v2-ft predicted only majority class (Normal) — no learning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Root cause analysis saved weeks of misdirected effort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AUC improvement: 0.573 → 0.645 (+12.6% relative)</a:t>
            </a:r>
          </a:p>
          <a:p>
            <a:pPr>
              <a:spcAft>
                <a:spcPts val="3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Gap to paper: expected — using ~30% of paper's data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Dataset: ~65 patients (30% of paper's 218). Paper metrics use 100% data with 70/30 train-val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Next Steps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2743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4114800"/>
          </a:xfrm>
          <a:prstGeom prst="rect">
            <a:avLst/>
          </a:prstGeom>
          <a:solidFill>
            <a:srgbClr val="244E7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Post-hoc threshold calibration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Recover Significant predictions</a:t>
            </a:r>
            <a:br/>
            <a:r>
              <a:t>with no retraining required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Platt scaling or isotonic</a:t>
            </a:r>
            <a:br/>
            <a:r>
              <a:t>regression on validation set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Expected: meaningful F1 gain</a:t>
            </a:r>
            <a:br/>
            <a:r>
              <a:t>from existing model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3291840" cy="4114800"/>
          </a:xfrm>
          <a:prstGeom prst="rect">
            <a:avLst/>
          </a:prstGeom>
          <a:solidFill>
            <a:srgbClr val="244E78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29184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Delayed L_dc ramp schedule</a:t>
            </a:r>
            <a:br/>
            <a:r>
              <a:t>(let branches stabilize first)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Confidence-gated pseudo-labels</a:t>
            </a:r>
            <a:br/>
            <a:r>
              <a:t>for contrastive loss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Class-balanced sampling to</a:t>
            </a:r>
            <a:br/>
            <a:r>
              <a:t>address stenosis imbalance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Systematic hyperparameter</a:t>
            </a:r>
            <a:br/>
            <a:r>
              <a:t>search on loss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291840" cy="4114800"/>
          </a:xfrm>
          <a:prstGeom prst="rect">
            <a:avLst/>
          </a:prstGeom>
          <a:solidFill>
            <a:srgbClr val="244E7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280160"/>
            <a:ext cx="3291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Plaque branch investigation</a:t>
            </a:r>
            <a:br/>
            <a:r>
              <a:t>(currently undertrained)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Architectural improvements:</a:t>
            </a:r>
            <a:br/>
            <a:r>
              <a:t>larger backbone, more queries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Data scaling: additional</a:t>
            </a:r>
            <a:br/>
            <a:r>
              <a:t>patient cohorts if available</a:t>
            </a:r>
          </a:p>
          <a:p>
            <a:pPr>
              <a:spcAft>
                <a:spcPts val="600"/>
              </a:spcAft>
              <a:defRPr sz="1300">
                <a:solidFill>
                  <a:srgbClr val="CCD5E0"/>
                </a:solidFill>
                <a:latin typeface="Calibri"/>
              </a:defRPr>
            </a:pPr>
            <a:r>
              <a:t>•  Full ablation study matching</a:t>
            </a:r>
            <a:br/>
            <a:r>
              <a:t>paper's Table 2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solidFill>
            <a:srgbClr val="152E4A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  <a:latin typeface="Calibri"/>
              </a:defRPr>
            </a:pPr>
            <a:r>
              <a:t>Paper Target Metrics (100% data, 218 patients)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Stenosis:  ACC 0.928  |  F1 0.944  |  Precision 0.948  |  Recall 0.940  |  Spec 0.917          Plaque:  ACC 0.805  |  F1 0.840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