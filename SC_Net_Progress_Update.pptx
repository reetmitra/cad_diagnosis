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SC-Net: Spatio-Temporal Contrast Network</a:t>
            </a:r>
            <a:br/>
            <a:r>
              <a:t>for CAD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A7CBD"/>
                </a:solidFill>
                <a:latin typeface="Calibri"/>
              </a:defRPr>
            </a:pPr>
            <a:r>
              <a:t>MICCAI 2024 Paper Implementation  —  Progress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017520"/>
            <a:ext cx="36576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6B7B8D"/>
                </a:solidFill>
                <a:latin typeface="Calibri"/>
              </a:defRPr>
            </a:pPr>
            <a:r>
              <a:t>Dual-branch DETR-style architecture for coronary artery disease diagnosis from CCTA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Clinically-Credible</a:t>
            </a:r>
            <a:br/>
            <a:r>
              <a:t>Data Augmentation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Lesion recombination on CPR</a:t>
            </a:r>
            <a:br/>
            <a:r>
              <a:t>volumes for data-scarce settings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Spatio-Temporal</a:t>
            </a:r>
            <a:br/>
            <a:r>
              <a:t>Dual-Task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Object detection (spatial) +</a:t>
            </a:r>
            <a:br/>
            <a:r>
              <a:t>sampling-point classification (temporal)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4114800"/>
            <a:ext cx="3017520" cy="201168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7CBD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Dual-Task Prediction-</a:t>
            </a:r>
            <a:br/>
            <a:r>
              <a:t>Contrast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534924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8D"/>
                </a:solidFill>
                <a:latin typeface="Calibri"/>
              </a:defRPr>
            </a:pPr>
            <a:r>
              <a:t>Cross-supervision via detached</a:t>
            </a:r>
            <a:br/>
            <a:r>
              <a:t>pseudo-labels between branches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Implementation Progress &amp; Bug Fixes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A7CBD"/>
                </a:solidFill>
                <a:latin typeface="Calibri"/>
              </a:defRPr>
            </a:pPr>
            <a:r>
              <a:t>13+ Architecture Bugs Identified &amp; Fixed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nn.ModuleList for extraction blocks (weights were invisible to optimizer)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Learnable parameters: feature weights, view fusion as nn.Parameter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Fixed query embeddings via nn.Embedding (was random every forward pass)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Conv3d spatial flattening projection (defined but never called)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Gradient detachment in contrastive loss (circular gradient flow)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Box format consistency: center-width throughout pipeline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Device handling: targets moved to output device in loss functions</a:t>
            </a:r>
          </a:p>
          <a:p>
            <a:pPr>
              <a:spcAft>
                <a:spcPts val="4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Deep copy targets before each loss term (in-place mutation bug)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029200" cy="2194560"/>
          </a:xfrm>
          <a:prstGeom prst="rect">
            <a:avLst/>
          </a:prstGeom>
          <a:solidFill>
            <a:srgbClr val="244E78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80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Key Discovery: Paper Code ≠ Paper Equations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Paper equations: λ_L1 = 5, λ_IoU = 2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Paper code actually uses: 1:1:1 equal weighting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Our "fixes" matching equations broke convergence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Resolution: Reverted to paper code weights (1:1:1)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657600"/>
            <a:ext cx="5029200" cy="2743200"/>
          </a:xfrm>
          <a:prstGeom prst="rect">
            <a:avLst/>
          </a:prstGeom>
          <a:solidFill>
            <a:srgbClr val="244E78"/>
          </a:solidFill>
          <a:ln w="1270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749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7CBD"/>
                </a:solidFill>
                <a:latin typeface="Calibri"/>
              </a:defRPr>
            </a:pPr>
            <a:r>
              <a:t>Two-Stage Training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16052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Stage 1 — Pre-train on augmented data (3-class plaque)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Stage 2 — Fine-tune on clinical data (6-class: stenosis × plaque)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Head reinitialization (3→6 classes) is by design in paper code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AdamW optimizer, CosineAnnealingLR, gradient clipping = 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7CBD"/>
                </a:solidFill>
                <a:latin typeface="Calibri"/>
              </a:defRPr>
            </a:pPr>
            <a:r>
              <a:t>Development Phases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1: Initial codebase setup (Jan 2025)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2: 15+ critical bug fixes across 6 files (Jan 2025 – Feb 2026)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3: Training infrastructure, DDP, evaluation pipeline (Feb 2026)</a:t>
            </a:r>
          </a:p>
          <a:p>
            <a:pPr>
              <a:spcAft>
                <a:spcPts val="3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t>•  Phase 4: Root cause analysis — paper code vs. paper equations (Feb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Current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463040"/>
                <a:gridCol w="1463040"/>
                <a:gridCol w="1463040"/>
                <a:gridCol w="22860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Run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Stenosis ACC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F1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Sig. F1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AUC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v2-ft (baseline)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0.316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0.160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0.000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0.573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DDE4ED"/>
                          </a:solidFill>
                          <a:latin typeface="Calibri"/>
                        </a:defRPr>
                      </a:pPr>
                      <a:r>
                        <a:t>Majority class only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v6-ft (held-out, cal.)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0.435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0.393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0.525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0.604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Best prev. result</a:t>
                      </a:r>
                    </a:p>
                  </a:txBody>
                  <a:tcPr anchor="ctr">
                    <a:solidFill>
                      <a:srgbClr val="1E426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v7-ft (argmax)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0.402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0.342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0.000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0.713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Plaque collapsed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v7-ft (calibrated) ★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0.596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0.466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0.752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0.720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Sig Rec=93.5%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 target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0.914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100% data (218 patients)</a:t>
                      </a:r>
                    </a:p>
                  </a:txBody>
                  <a:tcPr anchor="ctr">
                    <a:solidFill>
                      <a:srgbClr val="244E7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4114800"/>
            <a:ext cx="4572000" cy="2468880"/>
          </a:xfrm>
          <a:prstGeom prst="rect">
            <a:avLst/>
          </a:prstGeom>
          <a:solidFill>
            <a:srgbClr val="244E78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v7-ft Constrained Calibration — Best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lang="en-US" dirty="0" sz="950"/>
              <a:t>Stenosis: ACC=0.580  F1=0.585  AUC=0.713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Non-sig Recall=0.581  ✓  Sig Recall=0.595  ✓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Calibration thresholds: [Healthy=2.20, NonSig=0.35, Sig=0.25]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Failure analysis (67 test arteries):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  Healthy: 1/17 correct (6%) — model over-predicts disease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  Non-sig: 13/23 correct (57%)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  Sig:     11/27 correct (41%) — detects lesion, mis-grades severity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Root cause: Healthy threshold t=2.20 too coarse; backbone (v6)</a:t>
            </a:r>
          </a:p>
          <a:p>
            <a:pPr>
              <a:spcAft>
                <a:spcPts val="200"/>
              </a:spcAft>
              <a:defRPr sz="12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converged too early — v9 pre-training underway to fix</a:t>
            </a:r>
          </a:p>
        </p:txBody>
      </p:sp>
      <p:pic>
        <p:nvPicPr>
          <p:cNvPr id="11" name="Picture 10" descr="confusion_steno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114800"/>
            <a:ext cx="3108960" cy="2468880"/>
          </a:xfrm>
          <a:prstGeom prst="rect">
            <a:avLst/>
          </a:prstGeom>
        </p:spPr>
      </p:pic>
      <p:pic>
        <p:nvPicPr>
          <p:cNvPr id="12" name="Picture 11" descr="confusion_plaq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114800"/>
            <a:ext cx="29260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Next Steps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743200" cy="27432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329184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Completed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v7-ft training: delayed Ldc ramp, confidence gating, balanced sampling  ✔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Constrained 3D calibration: NonSig Rec=0.581, Sig Rec=0.595  ✔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CPR visualization tool: GT/Pred bars per-slice (viz_v7ft_clean/)  ✔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Failure analysis: Healthy 6%, NonSig 57%, Sig 41% — root causes identified  ✔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13+ architecture bug fixes across 6 core files  ✔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3A7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291840" cy="457200"/>
          </a:xfrm>
          <a:prstGeom prst="rect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sz="1300" b="1"/>
              <a:t>Next: v8 / Non-sig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v9 pre-training (running): longer warmup, patience=40, 200 epochs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v9-ft fine-tuning: once v9 backbone beats v6 val loss 3.22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Calibration with higher Healthy threshold to fix 6% Healthy recall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lang="en-US" dirty="0"/>
              <a:t>Target: Healthy Rec &gt; 50%, maintain NonSig Rec &gt; 50%, Sig Rec &gt; 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291840" cy="4114800"/>
          </a:xfrm>
          <a:prstGeom prst="rect">
            <a:avLst/>
          </a:prstGeom>
          <a:solidFill>
            <a:srgbClr val="244E78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1280160"/>
            <a:ext cx="329184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325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Medium-Term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828800"/>
            <a:ext cx="2926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Plaque Mixed class: F1=0.176
(53 GT samples — more data needed)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Non-significant stenosis:
architectural or data solution?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Data scaling: additional
patient cohorts if available</a:t>
            </a:r>
          </a:p>
          <a:p>
            <a:pPr>
              <a:spcAft>
                <a:spcPts val="600"/>
              </a:spcAft>
              <a:defRPr sz="1300">
                <a:solidFill>
                  <a:srgbClr val="CCD5E0"/>
                </a:solidFill>
                <a:latin typeface="Calibri"/>
              </a:defRPr>
            </a:pPr>
            <a:r>
              <a:rPr sz="1000"/>
              <a:t>•  Full ablation study matching
paper's Table 2 format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669280"/>
            <a:ext cx="10515600" cy="822960"/>
          </a:xfrm>
          <a:prstGeom prst="rect">
            <a:avLst/>
          </a:prstGeom>
          <a:solidFill>
            <a:srgbClr val="152E4A"/>
          </a:solidFill>
          <a:ln w="6350">
            <a:solidFill>
              <a:srgbClr val="6B7B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760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7CBD"/>
                </a:solidFill>
                <a:latin typeface="Calibri"/>
              </a:defRPr>
            </a:pPr>
            <a:r>
              <a:t>Paper Target Metrics (100% data, 218 patients)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80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BBCC"/>
                </a:solidFill>
                <a:latin typeface="Calibri"/>
              </a:defRPr>
            </a:pPr>
            <a:r>
              <a:t>Stenosis:  ACC 0.928  |  F1 0.944  |  Precision 0.948  |  Recall 0.940  |  Spec 0.917          Plaque:  ACC 0.805  |  F1 0.840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